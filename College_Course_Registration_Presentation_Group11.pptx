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3474720" cy="329184"/>
          </a:xfrm>
          <a:prstGeom prst="roundRect">
            <a:avLst/>
          </a:prstGeom>
          <a:solidFill>
            <a:srgbClr val="1C263B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818CF8"/>
                </a:solidFill>
                <a:latin typeface="Trebuchet MS"/>
              </a:defRPr>
            </a:pPr>
            <a:r>
              <a:t>MINI PROJECT #11 • JAVA PROGRAMMING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Trebuchet MS"/>
              </a:defRPr>
            </a:pPr>
            <a:r>
              <a:t>College Course Registration</a:t>
            </a:r>
          </a:p>
          <a:p>
            <a:pPr>
              <a:spcBef>
                <a:spcPts val="200"/>
              </a:spcBef>
              <a:defRPr sz="3600" b="1">
                <a:solidFill>
                  <a:srgbClr val="818CF8"/>
                </a:solidFill>
                <a:latin typeface="Trebuchet MS"/>
              </a:defRPr>
            </a:pPr>
            <a:r>
              <a:t>Management System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Segoe UI"/>
              </a:defRPr>
            </a:pPr>
            <a:r>
              <a:t>An object-oriented desktop application featuring dual-role access, real-time capacity monitoring, and rigorous multi-collection synchronization in Java.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728655" cy="96012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90672"/>
            <a:ext cx="2651760" cy="822960"/>
          </a:xfrm>
          <a:prstGeom prst="rect">
            <a:avLst/>
          </a:prstGeom>
          <a:noFill/>
        </p:spPr>
        <p:txBody>
          <a:bodyPr wrap="square" lIns="182880" tIns="73152">
            <a:spAutoFit/>
          </a:bodyPr>
          <a:lstStyle/>
          <a:p>
            <a:pPr>
              <a:defRPr sz="950" b="1">
                <a:solidFill>
                  <a:srgbClr val="94A3B8"/>
                </a:solidFill>
                <a:latin typeface="Trebuchet MS"/>
              </a:defRPr>
            </a:pPr>
            <a:r>
              <a:t>SUBJECT</a:t>
            </a:r>
          </a:p>
          <a:p>
            <a:pPr>
              <a:spcBef>
                <a:spcPts val="300"/>
              </a:spcBef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Java Programming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0712" y="3090672"/>
            <a:ext cx="2651760" cy="822960"/>
          </a:xfrm>
          <a:prstGeom prst="rect">
            <a:avLst/>
          </a:prstGeom>
          <a:noFill/>
        </p:spPr>
        <p:txBody>
          <a:bodyPr wrap="square" lIns="182880" tIns="73152">
            <a:spAutoFit/>
          </a:bodyPr>
          <a:lstStyle/>
          <a:p>
            <a:pPr>
              <a:defRPr sz="950" b="1">
                <a:solidFill>
                  <a:srgbClr val="94A3B8"/>
                </a:solidFill>
                <a:latin typeface="Trebuchet MS"/>
              </a:defRPr>
            </a:pPr>
            <a:r>
              <a:t>COHORT</a:t>
            </a:r>
          </a:p>
          <a:p>
            <a:pPr>
              <a:spcBef>
                <a:spcPts val="300"/>
              </a:spcBef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Jeff Bezos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3090672"/>
            <a:ext cx="2651760" cy="822960"/>
          </a:xfrm>
          <a:prstGeom prst="rect">
            <a:avLst/>
          </a:prstGeom>
          <a:noFill/>
        </p:spPr>
        <p:txBody>
          <a:bodyPr wrap="square" lIns="182880" tIns="73152">
            <a:spAutoFit/>
          </a:bodyPr>
          <a:lstStyle/>
          <a:p>
            <a:pPr>
              <a:defRPr sz="950" b="1">
                <a:solidFill>
                  <a:srgbClr val="94A3B8"/>
                </a:solidFill>
                <a:latin typeface="Trebuchet MS"/>
              </a:defRPr>
            </a:pPr>
            <a:r>
              <a:t>BATCH</a:t>
            </a:r>
          </a:p>
          <a:p>
            <a:pPr>
              <a:spcBef>
                <a:spcPts val="300"/>
              </a:spcBef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2025 – 2029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9096" y="3090672"/>
            <a:ext cx="2651760" cy="822960"/>
          </a:xfrm>
          <a:prstGeom prst="rect">
            <a:avLst/>
          </a:prstGeom>
          <a:noFill/>
        </p:spPr>
        <p:txBody>
          <a:bodyPr wrap="square" lIns="182880" tIns="73152">
            <a:spAutoFit/>
          </a:bodyPr>
          <a:lstStyle/>
          <a:p>
            <a:pPr>
              <a:defRPr sz="950" b="1">
                <a:solidFill>
                  <a:srgbClr val="94A3B8"/>
                </a:solidFill>
                <a:latin typeface="Trebuchet MS"/>
              </a:defRPr>
            </a:pPr>
            <a:r>
              <a:t>PROBLEM STATEMENT</a:t>
            </a:r>
          </a:p>
          <a:p>
            <a:pPr>
              <a:spcBef>
                <a:spcPts val="300"/>
              </a:spcBef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Mini Project #11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10728655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>
              <a:defRPr sz="1000" b="1">
                <a:solidFill>
                  <a:srgbClr val="94A3B8"/>
                </a:solidFill>
                <a:latin typeface="Trebuchet MS"/>
              </a:defRPr>
            </a:pPr>
            <a:r>
              <a:t>ENGINEERING TEAM ROSTER (GROUP 11):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2542032" cy="182880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Jaikishan</a:t>
            </a:r>
          </a:p>
          <a:p>
            <a:pPr>
              <a:spcBef>
                <a:spcPts val="300"/>
              </a:spcBef>
              <a:defRPr sz="900" b="1">
                <a:solidFill>
                  <a:srgbClr val="818CF8"/>
                </a:solidFill>
                <a:latin typeface="Trebuchet MS"/>
              </a:defRPr>
            </a:pPr>
            <a:r>
              <a:t>STUDENT &amp; AUTH LEAD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Authentication, Student Entity, Dashboard &amp; Navigation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4480560"/>
            <a:ext cx="2542032" cy="182880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Omkar</a:t>
            </a:r>
          </a:p>
          <a:p>
            <a:pPr>
              <a:spcBef>
                <a:spcPts val="300"/>
              </a:spcBef>
              <a:defRPr sz="900" b="1">
                <a:solidFill>
                  <a:srgbClr val="818CF8"/>
                </a:solidFill>
                <a:latin typeface="Trebuchet MS"/>
              </a:defRPr>
            </a:pPr>
            <a:r>
              <a:t>COURSE DOMAIN LEAD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Course Service, Dynamic Resizing &amp; Safe Deletion Guard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4480560"/>
            <a:ext cx="2542032" cy="182880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Sarthak</a:t>
            </a:r>
          </a:p>
          <a:p>
            <a:pPr>
              <a:spcBef>
                <a:spcPts val="300"/>
              </a:spcBef>
              <a:defRPr sz="900" b="1">
                <a:solidFill>
                  <a:srgbClr val="818CF8"/>
                </a:solidFill>
                <a:latin typeface="Trebuchet MS"/>
              </a:defRPr>
            </a:pPr>
            <a:r>
              <a:t>REGISTRATION ENGINE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Enrollment Rules, 18-Credit Cap &amp; Table Button Editor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4480560"/>
            <a:ext cx="2542032" cy="182880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Danish</a:t>
            </a:r>
          </a:p>
          <a:p>
            <a:pPr>
              <a:spcBef>
                <a:spcPts val="300"/>
              </a:spcBef>
              <a:defRPr sz="900" b="1">
                <a:solidFill>
                  <a:srgbClr val="818CF8"/>
                </a:solidFill>
                <a:latin typeface="Trebuchet MS"/>
              </a:defRPr>
            </a:pPr>
            <a:r>
              <a:t>DATA &amp; ADMIN LEAD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Collections Architecture, Faculty System &amp; Overview GUI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CONTEXT • PROBLEM STATEMENT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Problem Statement &amp; Real-World Motivation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university course enrollment workflows and preventing resource contention.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950" b="1">
                <a:solidFill>
                  <a:srgbClr val="F43F5E"/>
                </a:solidFill>
                <a:latin typeface="Trebuchet MS"/>
              </a:defRPr>
            </a:pPr>
            <a:r>
              <a:t>[ LEGACY FRICTION ]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Trebuchet MS"/>
              </a:defRPr>
            </a:pPr>
            <a:r>
              <a:t>Traditional Registration Pain Points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•  Uncontrolled Over-Enrollment: Without seat validation, popular classes fill past physical classroom capacity.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•  Duplicate Registrations: Students enroll into duplicate sections, hoarding seats from peers.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•  Disconnected Faculty Records: Instructor assignments and departments maintained in unlinked silos.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•  Semester Credit Overload: Students enroll into excessive courses without prerequisite or credit caps.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42255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950" b="1">
                <a:solidFill>
                  <a:srgbClr val="10B981"/>
                </a:solidFill>
                <a:latin typeface="Trebuchet MS"/>
              </a:defRPr>
            </a:pPr>
            <a:r>
              <a:t>[ OUR ARCHITECTURE ]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Trebuchet MS"/>
              </a:defRPr>
            </a:pPr>
            <a:r>
              <a:t>The Engineered Software Solution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✓  Real-Time Capacity Enforcement: Capacity vs. registered count checked synchronously before confirming seat.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✓  18-Credit Maximum Cap: Hard rule stops students from exceeding university semester credit limits.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✓  Faculty Management System: Dedicated Faculty model, search filtering, and professor assignment directory.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✓  Audit Trail Preservation: Course cancellations preserve chronological LinkedList transaction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COMPLIANCE • SYLLABUS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Core Objectives &amp; Syllabus Alignment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Structured mapping to the 8 core objectives specified in Mini Project 11 guidelines.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21488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1. Entity Management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Models for Student, Course, Faculty, and Registration with strict data encapsulation.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21488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2. Registration Engine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Real-time enrollment, cancellation, duplicate prevention, and credit calculation logic.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42032" cy="21488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3. Capacity Monitoring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Automatic vacancy calculation with visual AVAILABLE and FULL status indicators.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645920"/>
            <a:ext cx="2542032" cy="21488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4. Fixed Array Storage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Course[] array for initial course offerings with dynamic reallocation safety.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2542032" cy="21488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5. LinkedList Audit Log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LinkedList&lt;Registration&gt; maintaining sequential event history for institutional auditing.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023360"/>
            <a:ext cx="2542032" cy="21488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6. HashMap Fast Lookup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O(1) constant-time record retrieval for Students, Courses, and Faculty by unique 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4023360"/>
            <a:ext cx="2542032" cy="21488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7. TreeMap Self-Sorting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Self-balancing Red-Black Tree maintaining courses naturally sorted by Course 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4023360"/>
            <a:ext cx="2542032" cy="21488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8. Modern Swing GUI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Desktop experience styled with FlatLaf, responsive CardLayout, and live state sync.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ALGORITHMS • COLLECTIONS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Java Collections Framework Deep Dive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Technical comparison and algorithmic justification of chosen data structures.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FIXED INITIAL STORAGE ]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Course[] (Array)</a:t>
            </a:r>
          </a:p>
          <a:p>
            <a:pPr>
              <a:spcBef>
                <a:spcPts val="1200"/>
              </a:spcBef>
              <a:defRPr sz="1050" b="1">
                <a:solidFill>
                  <a:srgbClr val="818CF8"/>
                </a:solidFill>
                <a:latin typeface="Courier New"/>
              </a:defRPr>
            </a:pPr>
            <a:r>
              <a:t>Complexity: O(1) Index Access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Architectural Justification:</a:t>
            </a:r>
            <a:br/>
            <a:r>
              <a:t>Objective 4 requirement. Stores predefined catalog. System.arraycopy dynamically doubles capacity when expanded.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850" b="1">
                <a:solidFill>
                  <a:srgbClr val="38BDF8"/>
                </a:solidFill>
                <a:latin typeface="Trebuchet MS"/>
              </a:defRPr>
            </a:pPr>
            <a:r>
              <a:t>[ CHRONOLOGICAL AUDIT LOG ]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LinkedList&lt;Registration&gt;</a:t>
            </a:r>
          </a:p>
          <a:p>
            <a:pPr>
              <a:spcBef>
                <a:spcPts val="1200"/>
              </a:spcBef>
              <a:defRPr sz="1050" b="1">
                <a:solidFill>
                  <a:srgbClr val="38BDF8"/>
                </a:solidFill>
                <a:latin typeface="Courier New"/>
              </a:defRPr>
            </a:pPr>
            <a:r>
              <a:t>Complexity: O(1) Append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Architectural Justification:</a:t>
            </a:r>
            <a:br/>
            <a:r>
              <a:t>Objective 5 requirement. Sequential event ledger preserving insertion order of active and cancelled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42032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850" b="1">
                <a:solidFill>
                  <a:srgbClr val="10B981"/>
                </a:solidFill>
                <a:latin typeface="Trebuchet MS"/>
              </a:defRPr>
            </a:pPr>
            <a:r>
              <a:t>[ CONSTANT-TIME LOOKUP ]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HashMap&lt;String, T&gt;</a:t>
            </a:r>
          </a:p>
          <a:p>
            <a:pPr>
              <a:spcBef>
                <a:spcPts val="1200"/>
              </a:spcBef>
              <a:defRPr sz="1050" b="1">
                <a:solidFill>
                  <a:srgbClr val="10B981"/>
                </a:solidFill>
                <a:latin typeface="Courier New"/>
              </a:defRPr>
            </a:pPr>
            <a:r>
              <a:t>Complexity: O(1) Avg Search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Architectural Justification:</a:t>
            </a:r>
            <a:br/>
            <a:r>
              <a:t>Objective 6 requirement. Direct primary-key lookups for Students, Courses, and Faculty by unique ID string.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645920"/>
            <a:ext cx="2542032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850" b="1">
                <a:solidFill>
                  <a:srgbClr val="F59E0B"/>
                </a:solidFill>
                <a:latin typeface="Trebuchet MS"/>
              </a:defRPr>
            </a:pPr>
            <a:r>
              <a:t>[ SELF-SORTING CATALOG ]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TreeMap&lt;String, Course&gt;</a:t>
            </a:r>
          </a:p>
          <a:p>
            <a:pPr>
              <a:spcBef>
                <a:spcPts val="1200"/>
              </a:spcBef>
              <a:defRPr sz="1050" b="1">
                <a:solidFill>
                  <a:srgbClr val="F59E0B"/>
                </a:solidFill>
                <a:latin typeface="Courier New"/>
              </a:defRPr>
            </a:pPr>
            <a:r>
              <a:t>Complexity: O(log N) Search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Architectural Justification:</a:t>
            </a:r>
            <a:br/>
            <a:r>
              <a:t>Objective 7 requirement. Backed by Red-Black Binary Search Tree, keeping courses naturally alphabetized.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01 •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Dual-Role Authentication Portal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Split-screen modern login routing to Student or Administrator portals.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LoginFrame.java — Java Swing</a:t>
            </a:r>
          </a:p>
        </p:txBody>
      </p:sp>
      <p:pic>
        <p:nvPicPr>
          <p:cNvPr id="11" name="Picture 10" descr="01_login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Authentication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Dual-Portal Routing: Entering 'admin' opens the Admin Dashboard; student credentials load the Student Portal.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Enter-Key Binding: Bound via JRootPane.setDefaultButton() to submit immediately on pressing Enter.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Modern SaaS Aesthetic: Dark navy branding panel paired with clean, rounded input fields.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Evaluator Demo Notice: Clearly displays demo credentials at the bottom for frictionless academic testing.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02 • STUDENT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Student Dashboard &amp; Academic Overview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Real-time metric telemetry and recently enrolled course overview.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StudentDashboard.java — Overview Panel</a:t>
            </a:r>
          </a:p>
        </p:txBody>
      </p:sp>
      <p:pic>
        <p:nvPicPr>
          <p:cNvPr id="11" name="Picture 10" descr="02_studen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Dashboard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4 Live Statistic Cards: Total Courses, Available Courses, Enrolled Courses, and Total Enrolled Credits.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Recent Courses Audit: Displays up to 3 most recently enrolled courses with credits and faculty names.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Active Tab Highlight: Sidebar tab highlights royal blue (#2563EB) for clear visual state indication.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Dynamic Profile Pill: Avatar badge reflects student initials, full name, department, and semester.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03 • COURSE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Course Catalog &amp; Capacity Enforcement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Interactive course catalog powered by TreeMap self-sorting and live search.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CoursePanel.java — Available Courses</a:t>
            </a:r>
          </a:p>
        </p:txBody>
      </p:sp>
      <p:pic>
        <p:nvPicPr>
          <p:cNvPr id="11" name="Picture 10" descr="03_student_available_cour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Catalog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Real-Time Capacity: Computes Available Seats = Capacity - Registered Students dynamically.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High-Contrast Pills: Green 'AVAILABLE' badge vs. Red 'FULL' badge (e.g. CS104 40/40 filled).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Live Search Bar: Instant multi-field filtering across Course ID, Course Name, and Faculty.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TreeMap Backing: Courses remain automatically alphabetized by Course ID across all views.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04 • ENROLLMENT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Course Registration &amp; Academic Credit Cap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Real-time enrollment engine enforcing capacity bounds and credit limits.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RegistrationPanel.java — Course Enrollment</a:t>
            </a:r>
          </a:p>
        </p:txBody>
      </p:sp>
      <p:pic>
        <p:nvPicPr>
          <p:cNvPr id="11" name="Picture 10" descr="04_student_register_cou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Enrollment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Dynamic Info Card: Selecting course from combo box updates credits, instructor, and vacant seats.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Over-Enrollment Guard: Register button auto-disables with alert if course capacity is exhausted.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Duplicate Prevention: Blocks duplicate enrollment attempts with an explanatory warning dialog.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18-Credit Maximum Cap: Hard stop prevents exceeding the semester limit (Syllabus safety enhancement).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05 • SCHEDULE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My Courses &amp; Interactive Cancellation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Interactive schedule viewer with in-table cancellation action buttons.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MyCoursesPanel.java — Enrolled Courses</a:t>
            </a:r>
          </a:p>
        </p:txBody>
      </p:sp>
      <p:pic>
        <p:nvPicPr>
          <p:cNvPr id="11" name="Picture 10" descr="05_student_my_cour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Schedule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Enrolled Schedule: Detailed view of enrolled courses with credit breakdowns and registration dates.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Total Credits Meter: Live counter displaying accumulated registered credits.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Table ButtonEditor: Custom TableCellEditor renders functional red 'Cancel' action buttons inside table rows.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Instant Seat Release: Cancelling dynamically restores course seat vacancy and updates all dashboards.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06 • ADMINISTRATIVE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Admin Dashboard &amp; Institutional Metrics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High-level institutional telemetry and real-time administrative counters.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AdminDashboard.java — Overview Panel</a:t>
            </a:r>
          </a:p>
        </p:txBody>
      </p:sp>
      <p:pic>
        <p:nvPicPr>
          <p:cNvPr id="11" name="Picture 10" descr="06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Admin Overview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5 Institutional Metrics: Total Students, Total Courses, Total Faculty, Total Registrations, and Open Seats.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Real-Time Vacancy Aggregation: Aggregates vacancies across all active courses dynamically.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Quick Action Hub: One-click shortcuts to Manage Courses, View Students, Faculty, and Audit Logs.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Live Synchronized Sync: Telemetry recalibrates automatically whenever switching tabs.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07 • COURSE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Course CRUD &amp; Safe Deletion Guard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Full course lifecycle management with enterprise data safety validation.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AdminCoursePanel.java — Course Management</a:t>
            </a:r>
          </a:p>
        </p:txBody>
      </p:sp>
      <p:pic>
        <p:nvPicPr>
          <p:cNvPr id="11" name="Picture 10" descr="07_admin_manage_cour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Course Administration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Full CRUD Operations: Administrators can add new offerings, edit parameters, or delete courses.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Input Form Validation: Modal forms validate non-empty fields, positive credits, and capacity thresholds.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Safe Deletion Guard: Blocks course deletion if registeredStudents &gt; 0, preventing orphaned student records.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3-Way Collection Sync: Synchronously updates Array, HashMap, and TreeMap collections.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08 • INSTRUCTOR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Faculty Management System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Instructor directory fulfilling Problem Statement requirement to manage faculty.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AdminFacultyPanel.java — Faculty Directory</a:t>
            </a:r>
          </a:p>
        </p:txBody>
      </p:sp>
      <p:pic>
        <p:nvPicPr>
          <p:cNvPr id="11" name="Picture 10" descr="09_admin_facu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Faculty Portal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Syllabus Requirement: Specifically satisfies the Problem Statement mandate to manage faculty records.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Faculty Directory: Displays Faculty ID, Name, Department (CSE/IT), and institutional email address.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Live Search Bar: Real-time filtering across ID, Name, Department, or Email.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'+ Add Faculty' Modal: Registers new professors into DataStore.faculties with duplicate ID validation.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TOUR • 09 • AUDIT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System-Wide Audit Log &amp; Transactions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Chronological ledger tracking all student registrations and cancellations.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7040880" cy="4754880"/>
          </a:xfrm>
          <a:prstGeom prst="roundRect">
            <a:avLst/>
          </a:prstGeom>
          <a:solidFill>
            <a:srgbClr val="0C101A"/>
          </a:solidFill>
          <a:ln w="1524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040880" cy="347472"/>
          </a:xfrm>
          <a:prstGeom prst="rect">
            <a:avLst/>
          </a:prstGeom>
          <a:solidFill>
            <a:srgbClr val="161E2E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0992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170992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6" y="170992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00200"/>
            <a:ext cx="55778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ourier New"/>
              </a:defRPr>
            </a:pPr>
            <a:r>
              <a:t>AdminRegistrationPanel.java — Audit Trail</a:t>
            </a:r>
          </a:p>
        </p:txBody>
      </p:sp>
      <p:pic>
        <p:nvPicPr>
          <p:cNvPr id="11" name="Picture 10" descr="10_admin_regist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4248"/>
            <a:ext cx="6894576" cy="4297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001000" y="1600200"/>
            <a:ext cx="3456432" cy="47548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850" b="1">
                <a:solidFill>
                  <a:srgbClr val="818CF8"/>
                </a:solidFill>
                <a:latin typeface="Trebuchet MS"/>
              </a:defRPr>
            </a:pPr>
            <a:r>
              <a:t>[ ARCHITECTURAL HIGHLIGHTS ]</a:t>
            </a:r>
          </a:p>
          <a:p>
            <a:pPr>
              <a:spcBef>
                <a:spcPts val="4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Audit Trail Highlights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Audit Trail Integrity: Tracks Registration ID, Student ID, Student Name, Course, and Timestamp.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Status Badges: Green 'REGISTERED' badge for active enrollments and red 'CANCELLED' for history.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History Preservation: Cancellations are never hard-deleted; status transitions preserve complete history.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 Powered by LinkedList: Demonstrates chronological sequential traversal of LinkedList&lt;Registration&gt;.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1C26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818CF8"/>
                </a:solidFill>
                <a:latin typeface="Trebuchet MS"/>
              </a:defRPr>
            </a:pPr>
            <a:r>
              <a:t>GROUP 11 • INDIVIDUAL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Trebuchet MS"/>
              </a:defRPr>
            </a:pPr>
            <a:r>
              <a:t>Team Members &amp; Contributions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Clear breakdown of individual domain responsibilities, deliverables, and architecture.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800" b="1">
                <a:solidFill>
                  <a:srgbClr val="818CF8"/>
                </a:solidFill>
                <a:latin typeface="Trebuchet MS"/>
              </a:defRPr>
            </a:pPr>
            <a:r>
              <a:t>[ AUTH &amp; STUDENT PORTAL ]</a:t>
            </a:r>
          </a:p>
          <a:p>
            <a:pPr>
              <a:spcBef>
                <a:spcPts val="300"/>
              </a:spcBef>
              <a:defRPr sz="1600" b="1">
                <a:solidFill>
                  <a:srgbClr val="F8FAFC"/>
                </a:solidFill>
                <a:latin typeface="Trebuchet MS"/>
              </a:defRPr>
            </a:pPr>
            <a:r>
              <a:t>Jaikishan</a:t>
            </a:r>
          </a:p>
          <a:p>
            <a:pPr>
              <a:spcBef>
                <a:spcPts val="1000"/>
              </a:spcBef>
              <a:defRPr sz="1000" b="1">
                <a:solidFill>
                  <a:srgbClr val="94A3B8"/>
                </a:solidFill>
                <a:latin typeface="Trebuchet MS"/>
              </a:defRPr>
            </a:pPr>
            <a:r>
              <a:t>Key Deliverables: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Student.java &amp; StudentService.java: Core student entity and authentication.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LoginFrame.java: Split-screen GUI with Enter-key submission.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StudentDashboard.java: Responsive CardLayout with live tab auto-refresh.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StudentHomePanel.java: 4 live metric cards and recent course audit.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800" b="1">
                <a:solidFill>
                  <a:srgbClr val="10B981"/>
                </a:solidFill>
                <a:latin typeface="Trebuchet MS"/>
              </a:defRPr>
            </a:pPr>
            <a:r>
              <a:t>[ COURSE DOMAIN &amp; SAFE CRUD ]</a:t>
            </a:r>
          </a:p>
          <a:p>
            <a:pPr>
              <a:spcBef>
                <a:spcPts val="300"/>
              </a:spcBef>
              <a:defRPr sz="1600" b="1">
                <a:solidFill>
                  <a:srgbClr val="F8FAFC"/>
                </a:solidFill>
                <a:latin typeface="Trebuchet MS"/>
              </a:defRPr>
            </a:pPr>
            <a:r>
              <a:t>Omkar</a:t>
            </a:r>
          </a:p>
          <a:p>
            <a:pPr>
              <a:spcBef>
                <a:spcPts val="1000"/>
              </a:spcBef>
              <a:defRPr sz="1000" b="1">
                <a:solidFill>
                  <a:srgbClr val="94A3B8"/>
                </a:solidFill>
                <a:latin typeface="Trebuchet MS"/>
              </a:defRPr>
            </a:pPr>
            <a:r>
              <a:t>Key Deliverables: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Course.java &amp; CourseService.java: Core course entity and capacity rules.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System.arraycopy Resizing: Doubles Course[] capacity on demand.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CoursePanel.java: Live search and Available/Full status badges.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AdminCoursePanel.java: Add/Edit modals and Safe Deletion Guard.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42032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800" b="1">
                <a:solidFill>
                  <a:srgbClr val="38BDF8"/>
                </a:solidFill>
                <a:latin typeface="Trebuchet MS"/>
              </a:defRPr>
            </a:pPr>
            <a:r>
              <a:t>[ REGISTRATION &amp; CREDIT CAP ]</a:t>
            </a:r>
          </a:p>
          <a:p>
            <a:pPr>
              <a:spcBef>
                <a:spcPts val="300"/>
              </a:spcBef>
              <a:defRPr sz="1600" b="1">
                <a:solidFill>
                  <a:srgbClr val="F8FAFC"/>
                </a:solidFill>
                <a:latin typeface="Trebuchet MS"/>
              </a:defRPr>
            </a:pPr>
            <a:r>
              <a:t>Sarthak</a:t>
            </a:r>
          </a:p>
          <a:p>
            <a:pPr>
              <a:spcBef>
                <a:spcPts val="1000"/>
              </a:spcBef>
              <a:defRPr sz="1000" b="1">
                <a:solidFill>
                  <a:srgbClr val="94A3B8"/>
                </a:solidFill>
                <a:latin typeface="Trebuchet MS"/>
              </a:defRPr>
            </a:pPr>
            <a:r>
              <a:t>Key Deliverables: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Registration.java &amp; Service: Enrollment, cancellation, and validation.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18-Credit Semester Cap: Hard rule preventing student credit overload.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RegistrationPanel.java: Dynamic course selection with info card.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MyCoursesPanel.java: Interactive table with red Cancel button editor.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645920"/>
            <a:ext cx="2542032" cy="466344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800" b="1">
                <a:solidFill>
                  <a:srgbClr val="F59E0B"/>
                </a:solidFill>
                <a:latin typeface="Trebuchet MS"/>
              </a:defRPr>
            </a:pPr>
            <a:r>
              <a:t>[ DATA &amp; ADMIN SYSTEMS ]</a:t>
            </a:r>
          </a:p>
          <a:p>
            <a:pPr>
              <a:spcBef>
                <a:spcPts val="300"/>
              </a:spcBef>
              <a:defRPr sz="1600" b="1">
                <a:solidFill>
                  <a:srgbClr val="F8FAFC"/>
                </a:solidFill>
                <a:latin typeface="Trebuchet MS"/>
              </a:defRPr>
            </a:pPr>
            <a:r>
              <a:t>Danish</a:t>
            </a:r>
          </a:p>
          <a:p>
            <a:pPr>
              <a:spcBef>
                <a:spcPts val="1000"/>
              </a:spcBef>
              <a:defRPr sz="1000" b="1">
                <a:solidFill>
                  <a:srgbClr val="94A3B8"/>
                </a:solidFill>
                <a:latin typeface="Trebuchet MS"/>
              </a:defRPr>
            </a:pPr>
            <a:r>
              <a:t>Key Deliverables: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DataStore.java: Centralized multi-collection data persistence.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Faculty Management: Faculty entity, service, and AdminFacultyPanel.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AdminDashboard.java: Executive overview with 5 real-time metrics.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 AdminRegistrationPanel: LinkedList-powered audit trail viewer.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3291840" cy="329184"/>
          </a:xfrm>
          <a:prstGeom prst="roundRect">
            <a:avLst/>
          </a:prstGeom>
          <a:solidFill>
            <a:srgbClr val="1C263B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818CF8"/>
                </a:solidFill>
                <a:latin typeface="Trebuchet MS"/>
              </a:defRPr>
            </a:pPr>
            <a:r>
              <a:t>CONCLUSION &amp; FUTURE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Trebuchet MS"/>
              </a:defRPr>
            </a:pPr>
            <a:r>
              <a:t>Enterprise-Grade Academic Architecture</a:t>
            </a:r>
          </a:p>
          <a:p>
            <a:pPr>
              <a:spcBef>
                <a:spcPts val="600"/>
              </a:spcBef>
              <a:defRPr sz="1300">
                <a:solidFill>
                  <a:srgbClr val="CBD5E1"/>
                </a:solidFill>
                <a:latin typeface="Segoe UI"/>
              </a:defRPr>
            </a:pPr>
            <a:r>
              <a:t>Successfully demonstrates Object-Oriented Design, Java Swing thread safety, and Collection Framework mastery while fulfilling all 8 syllabus objectives.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5120640" cy="29260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500" b="1">
                <a:solidFill>
                  <a:srgbClr val="818CF8"/>
                </a:solidFill>
                <a:latin typeface="Trebuchet MS"/>
              </a:defRPr>
            </a:pPr>
            <a:r>
              <a:t>Key Engineering Achievements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✓  100% compliance with Mini Project 11 syllabus specifications.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✓  Zero external database dependencies with fast in-memory execution.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✓  Enterprise safeguards: Safe Deletion, 18-Credit Cap, and Tab Auto-Sync.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✓  Dual-portal UI with accessible keyboard shortcuts and responsive CardLayout.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514600"/>
            <a:ext cx="5242255" cy="2926080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5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Future Engineering Scope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›  Persistent SQL Database integration (MySQL / PostgreSQL via JDBC).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›  Automated Course Waitlisting with FIFO queue seat handoff.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›  Automated PDF Course Schedule generation using iText or Apache PDFBox.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Segoe UI"/>
              </a:defRPr>
            </a:pPr>
            <a:r>
              <a:t>›  Role-based multi-factor authentication (MFA) and institutional LDAP/SSO.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777240"/>
          </a:xfrm>
          <a:prstGeom prst="roundRect">
            <a:avLst/>
          </a:prstGeom>
          <a:solidFill>
            <a:srgbClr val="101724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Thank You! Any Questions?</a:t>
            </a:r>
          </a:p>
          <a:p>
            <a:pPr algn="ctr">
              <a:spcBef>
                <a:spcPts val="200"/>
              </a:spcBef>
              <a:defRPr sz="1000">
                <a:solidFill>
                  <a:srgbClr val="94A3B8"/>
                </a:solidFill>
                <a:latin typeface="Trebuchet MS"/>
              </a:defRPr>
            </a:pPr>
            <a:r>
              <a:t>Group 11 • Cohort: Jeff Bezos • Batch: 2025 – 2029 • Mini Project #11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